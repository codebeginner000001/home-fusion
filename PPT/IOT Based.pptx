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Codec Pro" charset="1" panose="00000500000000000000"/>
      <p:regular r:id="rId16"/>
    </p:embeddedFont>
    <p:embeddedFont>
      <p:font typeface="Roboto" charset="1" panose="02000000000000000000"/>
      <p:regular r:id="rId17"/>
    </p:embeddedFont>
    <p:embeddedFont>
      <p:font typeface="Nunito Sans Bold" charset="1" panose="00000000000000000000"/>
      <p:regular r:id="rId18"/>
    </p:embeddedFont>
    <p:embeddedFont>
      <p:font typeface="Source Sans Pro Italics" charset="1" panose="020B0503030403090204"/>
      <p:regular r:id="rId19"/>
    </p:embeddedFont>
    <p:embeddedFont>
      <p:font typeface="Source Sans Pro" charset="1" panose="020B0503030403020204"/>
      <p:regular r:id="rId20"/>
    </p:embeddedFont>
    <p:embeddedFont>
      <p:font typeface="Source Sans Pro Bold" charset="1" panose="020B0703030403020204"/>
      <p:regular r:id="rId21"/>
    </p:embeddedFont>
    <p:embeddedFont>
      <p:font typeface="Roboto Bold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30.png" Type="http://schemas.openxmlformats.org/officeDocument/2006/relationships/image"/><Relationship Id="rId17" Target="../media/image31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48.jpe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sv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5650" y="2813374"/>
            <a:ext cx="7875378" cy="8104361"/>
          </a:xfrm>
          <a:custGeom>
            <a:avLst/>
            <a:gdLst/>
            <a:ahLst/>
            <a:cxnLst/>
            <a:rect r="r" b="b" t="t" l="l"/>
            <a:pathLst>
              <a:path h="8104361" w="7875378">
                <a:moveTo>
                  <a:pt x="0" y="0"/>
                </a:moveTo>
                <a:lnTo>
                  <a:pt x="7875378" y="0"/>
                </a:lnTo>
                <a:lnTo>
                  <a:pt x="7875378" y="8104361"/>
                </a:lnTo>
                <a:lnTo>
                  <a:pt x="0" y="810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7430" y="-221276"/>
            <a:ext cx="11071703" cy="11071703"/>
          </a:xfrm>
          <a:custGeom>
            <a:avLst/>
            <a:gdLst/>
            <a:ahLst/>
            <a:cxnLst/>
            <a:rect r="r" b="b" t="t" l="l"/>
            <a:pathLst>
              <a:path h="11071703" w="11071703">
                <a:moveTo>
                  <a:pt x="0" y="0"/>
                </a:moveTo>
                <a:lnTo>
                  <a:pt x="11071703" y="0"/>
                </a:lnTo>
                <a:lnTo>
                  <a:pt x="11071703" y="11071703"/>
                </a:lnTo>
                <a:lnTo>
                  <a:pt x="0" y="11071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45187" y="2073048"/>
            <a:ext cx="539736" cy="539736"/>
          </a:xfrm>
          <a:custGeom>
            <a:avLst/>
            <a:gdLst/>
            <a:ahLst/>
            <a:cxnLst/>
            <a:rect r="r" b="b" t="t" l="l"/>
            <a:pathLst>
              <a:path h="539736" w="539736">
                <a:moveTo>
                  <a:pt x="0" y="0"/>
                </a:moveTo>
                <a:lnTo>
                  <a:pt x="539736" y="0"/>
                </a:lnTo>
                <a:lnTo>
                  <a:pt x="539736" y="539736"/>
                </a:lnTo>
                <a:lnTo>
                  <a:pt x="0" y="539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16515" y="2046238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7" y="0"/>
                </a:lnTo>
                <a:lnTo>
                  <a:pt x="505147" y="505146"/>
                </a:lnTo>
                <a:lnTo>
                  <a:pt x="0" y="505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27497" y="7569116"/>
            <a:ext cx="9869903" cy="1256170"/>
          </a:xfrm>
          <a:custGeom>
            <a:avLst/>
            <a:gdLst/>
            <a:ahLst/>
            <a:cxnLst/>
            <a:rect r="r" b="b" t="t" l="l"/>
            <a:pathLst>
              <a:path h="1256170" w="9869903">
                <a:moveTo>
                  <a:pt x="0" y="0"/>
                </a:moveTo>
                <a:lnTo>
                  <a:pt x="9869903" y="0"/>
                </a:lnTo>
                <a:lnTo>
                  <a:pt x="9869903" y="1256169"/>
                </a:lnTo>
                <a:lnTo>
                  <a:pt x="0" y="1256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1741" y="1819733"/>
            <a:ext cx="6733424" cy="6348556"/>
          </a:xfrm>
          <a:custGeom>
            <a:avLst/>
            <a:gdLst/>
            <a:ahLst/>
            <a:cxnLst/>
            <a:rect r="r" b="b" t="t" l="l"/>
            <a:pathLst>
              <a:path h="6348556" w="6733424">
                <a:moveTo>
                  <a:pt x="0" y="0"/>
                </a:moveTo>
                <a:lnTo>
                  <a:pt x="6733424" y="0"/>
                </a:lnTo>
                <a:lnTo>
                  <a:pt x="6733424" y="6348557"/>
                </a:lnTo>
                <a:lnTo>
                  <a:pt x="0" y="63485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8644" t="-686" r="-2386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67430" y="3761149"/>
            <a:ext cx="8812768" cy="14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3"/>
              </a:lnSpc>
              <a:spcBef>
                <a:spcPct val="0"/>
              </a:spcBef>
            </a:pPr>
            <a:r>
              <a:rPr lang="en-US" sz="8537">
                <a:solidFill>
                  <a:srgbClr val="0223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IOT BASED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6955" y="5227491"/>
            <a:ext cx="8560559" cy="146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53"/>
              </a:lnSpc>
              <a:spcBef>
                <a:spcPct val="0"/>
              </a:spcBef>
            </a:pPr>
            <a:r>
              <a:rPr lang="en-US" sz="8537">
                <a:solidFill>
                  <a:srgbClr val="02233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ROOM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76955" y="7580029"/>
            <a:ext cx="9340155" cy="124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234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"A smart room isn't just a living space; it's a responsive, intelligent </a:t>
            </a:r>
          </a:p>
          <a:p>
            <a:pPr algn="l">
              <a:lnSpc>
                <a:spcPts val="3288"/>
              </a:lnSpc>
            </a:pPr>
            <a:r>
              <a:rPr lang="en-US" sz="234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environment that enhances comfort and convenience through </a:t>
            </a:r>
          </a:p>
          <a:p>
            <a:pPr algn="l">
              <a:lnSpc>
                <a:spcPts val="3288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seamless technology integration."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7B6">
                <a:alpha val="100000"/>
              </a:srgbClr>
            </a:gs>
            <a:gs pos="100000">
              <a:srgbClr val="050B3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89113" y="-1764625"/>
            <a:ext cx="6856917" cy="6507838"/>
          </a:xfrm>
          <a:custGeom>
            <a:avLst/>
            <a:gdLst/>
            <a:ahLst/>
            <a:cxnLst/>
            <a:rect r="r" b="b" t="t" l="l"/>
            <a:pathLst>
              <a:path h="6507838" w="6856917">
                <a:moveTo>
                  <a:pt x="0" y="0"/>
                </a:moveTo>
                <a:lnTo>
                  <a:pt x="6856917" y="0"/>
                </a:lnTo>
                <a:lnTo>
                  <a:pt x="6856917" y="6507837"/>
                </a:lnTo>
                <a:lnTo>
                  <a:pt x="0" y="6507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7236" y="2082650"/>
            <a:ext cx="7443754" cy="7308413"/>
          </a:xfrm>
          <a:custGeom>
            <a:avLst/>
            <a:gdLst/>
            <a:ahLst/>
            <a:cxnLst/>
            <a:rect r="r" b="b" t="t" l="l"/>
            <a:pathLst>
              <a:path h="7308413" w="7443754">
                <a:moveTo>
                  <a:pt x="0" y="0"/>
                </a:moveTo>
                <a:lnTo>
                  <a:pt x="7443754" y="0"/>
                </a:lnTo>
                <a:lnTo>
                  <a:pt x="7443754" y="7308414"/>
                </a:lnTo>
                <a:lnTo>
                  <a:pt x="0" y="73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41010" y="5276264"/>
            <a:ext cx="9639356" cy="8229600"/>
          </a:xfrm>
          <a:custGeom>
            <a:avLst/>
            <a:gdLst/>
            <a:ahLst/>
            <a:cxnLst/>
            <a:rect r="r" b="b" t="t" l="l"/>
            <a:pathLst>
              <a:path h="8229600" w="9639356">
                <a:moveTo>
                  <a:pt x="0" y="0"/>
                </a:moveTo>
                <a:lnTo>
                  <a:pt x="9639356" y="0"/>
                </a:lnTo>
                <a:lnTo>
                  <a:pt x="96393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95819" y="-5231405"/>
            <a:ext cx="7875378" cy="8104361"/>
          </a:xfrm>
          <a:custGeom>
            <a:avLst/>
            <a:gdLst/>
            <a:ahLst/>
            <a:cxnLst/>
            <a:rect r="r" b="b" t="t" l="l"/>
            <a:pathLst>
              <a:path h="8104361" w="7875378">
                <a:moveTo>
                  <a:pt x="0" y="0"/>
                </a:moveTo>
                <a:lnTo>
                  <a:pt x="7875378" y="0"/>
                </a:lnTo>
                <a:lnTo>
                  <a:pt x="7875378" y="8104361"/>
                </a:lnTo>
                <a:lnTo>
                  <a:pt x="0" y="8104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6515" y="8832335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7" y="0"/>
                </a:lnTo>
                <a:lnTo>
                  <a:pt x="505147" y="505147"/>
                </a:lnTo>
                <a:lnTo>
                  <a:pt x="0" y="5051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354877"/>
            <a:ext cx="389138" cy="592972"/>
          </a:xfrm>
          <a:custGeom>
            <a:avLst/>
            <a:gdLst/>
            <a:ahLst/>
            <a:cxnLst/>
            <a:rect r="r" b="b" t="t" l="l"/>
            <a:pathLst>
              <a:path h="592972" w="389138">
                <a:moveTo>
                  <a:pt x="0" y="0"/>
                </a:moveTo>
                <a:lnTo>
                  <a:pt x="389138" y="0"/>
                </a:lnTo>
                <a:lnTo>
                  <a:pt x="389138" y="592972"/>
                </a:lnTo>
                <a:lnTo>
                  <a:pt x="0" y="5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411963"/>
            <a:ext cx="336068" cy="512103"/>
          </a:xfrm>
          <a:custGeom>
            <a:avLst/>
            <a:gdLst/>
            <a:ahLst/>
            <a:cxnLst/>
            <a:rect r="r" b="b" t="t" l="l"/>
            <a:pathLst>
              <a:path h="512103" w="336068">
                <a:moveTo>
                  <a:pt x="0" y="0"/>
                </a:moveTo>
                <a:lnTo>
                  <a:pt x="336068" y="0"/>
                </a:lnTo>
                <a:lnTo>
                  <a:pt x="336068" y="512104"/>
                </a:lnTo>
                <a:lnTo>
                  <a:pt x="0" y="5121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705903"/>
            <a:ext cx="336068" cy="512103"/>
          </a:xfrm>
          <a:custGeom>
            <a:avLst/>
            <a:gdLst/>
            <a:ahLst/>
            <a:cxnLst/>
            <a:rect r="r" b="b" t="t" l="l"/>
            <a:pathLst>
              <a:path h="512103" w="336068">
                <a:moveTo>
                  <a:pt x="0" y="0"/>
                </a:moveTo>
                <a:lnTo>
                  <a:pt x="336068" y="0"/>
                </a:lnTo>
                <a:lnTo>
                  <a:pt x="336068" y="512103"/>
                </a:lnTo>
                <a:lnTo>
                  <a:pt x="0" y="5121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9936" y="8135735"/>
            <a:ext cx="367801" cy="560459"/>
          </a:xfrm>
          <a:custGeom>
            <a:avLst/>
            <a:gdLst/>
            <a:ahLst/>
            <a:cxnLst/>
            <a:rect r="r" b="b" t="t" l="l"/>
            <a:pathLst>
              <a:path h="560459" w="367801">
                <a:moveTo>
                  <a:pt x="0" y="0"/>
                </a:moveTo>
                <a:lnTo>
                  <a:pt x="367801" y="0"/>
                </a:lnTo>
                <a:lnTo>
                  <a:pt x="367801" y="560459"/>
                </a:lnTo>
                <a:lnTo>
                  <a:pt x="0" y="5604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250854" y="3048865"/>
            <a:ext cx="5246370" cy="52463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549036" y="838079"/>
            <a:ext cx="9149164" cy="1169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  <a:spcBef>
                <a:spcPct val="0"/>
              </a:spcBef>
            </a:pPr>
            <a:r>
              <a:rPr lang="en-US" sz="68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IOT?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2183" y="3265214"/>
            <a:ext cx="8396883" cy="156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IoT, or the Internet of Things, connects everyday objects to the internet for communication and data exchange.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2183" y="5218921"/>
            <a:ext cx="8590980" cy="103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enables devices to collect, share, and analyze data in real-time.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2183" y="8078585"/>
            <a:ext cx="8136169" cy="103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integrates technology into our daily lives, enhancing convenience and efficiency.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2183" y="6648753"/>
            <a:ext cx="8136169" cy="103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IoT allows for automation and smart control of various systems and devices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94478" y="-90851"/>
            <a:ext cx="6172200" cy="4114800"/>
          </a:xfrm>
          <a:custGeom>
            <a:avLst/>
            <a:gdLst/>
            <a:ahLst/>
            <a:cxnLst/>
            <a:rect r="r" b="b" t="t" l="l"/>
            <a:pathLst>
              <a:path h="4114800" w="6172200">
                <a:moveTo>
                  <a:pt x="0" y="0"/>
                </a:moveTo>
                <a:lnTo>
                  <a:pt x="6172200" y="0"/>
                </a:lnTo>
                <a:lnTo>
                  <a:pt x="6172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2731" y="1696681"/>
            <a:ext cx="539736" cy="539736"/>
          </a:xfrm>
          <a:custGeom>
            <a:avLst/>
            <a:gdLst/>
            <a:ahLst/>
            <a:cxnLst/>
            <a:rect r="r" b="b" t="t" l="l"/>
            <a:pathLst>
              <a:path h="539736" w="539736">
                <a:moveTo>
                  <a:pt x="0" y="0"/>
                </a:moveTo>
                <a:lnTo>
                  <a:pt x="539736" y="0"/>
                </a:lnTo>
                <a:lnTo>
                  <a:pt x="539736" y="539736"/>
                </a:lnTo>
                <a:lnTo>
                  <a:pt x="0" y="539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54839" y="4817901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6" y="0"/>
                </a:lnTo>
                <a:lnTo>
                  <a:pt x="505146" y="505147"/>
                </a:lnTo>
                <a:lnTo>
                  <a:pt x="0" y="505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81154" y="-299319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9" y="0"/>
                </a:lnTo>
                <a:lnTo>
                  <a:pt x="67758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44869" y="9102688"/>
            <a:ext cx="7315200" cy="931025"/>
          </a:xfrm>
          <a:custGeom>
            <a:avLst/>
            <a:gdLst/>
            <a:ahLst/>
            <a:cxnLst/>
            <a:rect r="r" b="b" t="t" l="l"/>
            <a:pathLst>
              <a:path h="931025" w="7315200">
                <a:moveTo>
                  <a:pt x="0" y="0"/>
                </a:moveTo>
                <a:lnTo>
                  <a:pt x="7315200" y="0"/>
                </a:lnTo>
                <a:lnTo>
                  <a:pt x="7315200" y="931026"/>
                </a:lnTo>
                <a:lnTo>
                  <a:pt x="0" y="931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115667" y="2921148"/>
            <a:ext cx="5594564" cy="559456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777B6">
                    <a:alpha val="100000"/>
                  </a:srgbClr>
                </a:gs>
                <a:gs pos="100000">
                  <a:srgbClr val="050B3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60759" y="4439150"/>
            <a:ext cx="5594564" cy="559456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75B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73279" y="1398419"/>
            <a:ext cx="5594564" cy="559456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74A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530243" y="2053831"/>
            <a:ext cx="1287169" cy="1272689"/>
          </a:xfrm>
          <a:custGeom>
            <a:avLst/>
            <a:gdLst/>
            <a:ahLst/>
            <a:cxnLst/>
            <a:rect r="r" b="b" t="t" l="l"/>
            <a:pathLst>
              <a:path h="1272689" w="1287169">
                <a:moveTo>
                  <a:pt x="0" y="0"/>
                </a:moveTo>
                <a:lnTo>
                  <a:pt x="1287169" y="0"/>
                </a:lnTo>
                <a:lnTo>
                  <a:pt x="1287169" y="1272688"/>
                </a:lnTo>
                <a:lnTo>
                  <a:pt x="0" y="12726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238700" y="3326519"/>
            <a:ext cx="1539156" cy="1394860"/>
          </a:xfrm>
          <a:custGeom>
            <a:avLst/>
            <a:gdLst/>
            <a:ahLst/>
            <a:cxnLst/>
            <a:rect r="r" b="b" t="t" l="l"/>
            <a:pathLst>
              <a:path h="1394860" w="1539156">
                <a:moveTo>
                  <a:pt x="0" y="0"/>
                </a:moveTo>
                <a:lnTo>
                  <a:pt x="1539156" y="0"/>
                </a:lnTo>
                <a:lnTo>
                  <a:pt x="1539156" y="1394860"/>
                </a:lnTo>
                <a:lnTo>
                  <a:pt x="0" y="13948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839452" y="5286449"/>
            <a:ext cx="1237179" cy="1216934"/>
          </a:xfrm>
          <a:custGeom>
            <a:avLst/>
            <a:gdLst/>
            <a:ahLst/>
            <a:cxnLst/>
            <a:rect r="r" b="b" t="t" l="l"/>
            <a:pathLst>
              <a:path h="1216934" w="1237179">
                <a:moveTo>
                  <a:pt x="0" y="0"/>
                </a:moveTo>
                <a:lnTo>
                  <a:pt x="1237179" y="0"/>
                </a:lnTo>
                <a:lnTo>
                  <a:pt x="1237179" y="1216934"/>
                </a:lnTo>
                <a:lnTo>
                  <a:pt x="0" y="12169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632298" y="305494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005CA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Smart Room Benefits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10297" y="3767856"/>
            <a:ext cx="2320528" cy="44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  <a:spcBef>
                <a:spcPct val="0"/>
              </a:spcBef>
            </a:pPr>
            <a:r>
              <a:rPr lang="en-US" sz="2669" i="true">
                <a:solidFill>
                  <a:srgbClr val="FFFFFF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Safety &amp; Security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15413" y="4590632"/>
            <a:ext cx="4110297" cy="120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Real-time monitoring and instant alerts to enhance protection against threats.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0705" y="5013325"/>
            <a:ext cx="3315146" cy="4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  <a:spcBef>
                <a:spcPct val="0"/>
              </a:spcBef>
            </a:pPr>
            <a:r>
              <a:rPr lang="en-US" sz="2869" i="true">
                <a:solidFill>
                  <a:srgbClr val="FFFFFF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Seamless Connectivity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12884" y="5990795"/>
            <a:ext cx="3800130" cy="120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Connects devices smoothly, allowing them to work together effortlessly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5358" y="6935833"/>
            <a:ext cx="4125367" cy="4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  <a:spcBef>
                <a:spcPct val="0"/>
              </a:spcBef>
            </a:pPr>
            <a:r>
              <a:rPr lang="en-US" sz="2869" i="true">
                <a:solidFill>
                  <a:srgbClr val="FFFFFF"/>
                </a:solidFill>
                <a:latin typeface="Source Sans Pro Italics"/>
                <a:ea typeface="Source Sans Pro Italics"/>
                <a:cs typeface="Source Sans Pro Italics"/>
                <a:sym typeface="Source Sans Pro Italics"/>
              </a:rPr>
              <a:t>Comprehensive Automation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10231" y="7688273"/>
            <a:ext cx="3475366" cy="161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6"/>
              </a:lnSpc>
              <a:spcBef>
                <a:spcPct val="0"/>
              </a:spcBef>
            </a:pPr>
            <a:r>
              <a:rPr lang="en-US" sz="234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IoT automates tasks based on data and preferences, simplifying everyday routines.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95557" y="-392352"/>
            <a:ext cx="11071703" cy="11071703"/>
          </a:xfrm>
          <a:custGeom>
            <a:avLst/>
            <a:gdLst/>
            <a:ahLst/>
            <a:cxnLst/>
            <a:rect r="r" b="b" t="t" l="l"/>
            <a:pathLst>
              <a:path h="11071703" w="11071703">
                <a:moveTo>
                  <a:pt x="11071703" y="0"/>
                </a:moveTo>
                <a:lnTo>
                  <a:pt x="0" y="0"/>
                </a:lnTo>
                <a:lnTo>
                  <a:pt x="0" y="11071704"/>
                </a:lnTo>
                <a:lnTo>
                  <a:pt x="11071703" y="11071704"/>
                </a:lnTo>
                <a:lnTo>
                  <a:pt x="11071703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98153" y="-1851070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1" y="0"/>
                </a:lnTo>
                <a:lnTo>
                  <a:pt x="4553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0678" y="2068623"/>
            <a:ext cx="4737156" cy="3795062"/>
            <a:chOff x="0" y="0"/>
            <a:chExt cx="1247646" cy="9995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696278" y="6360889"/>
            <a:ext cx="4737156" cy="3795062"/>
            <a:chOff x="0" y="0"/>
            <a:chExt cx="1247646" cy="9995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78072" y="6360889"/>
            <a:ext cx="4737156" cy="3795062"/>
            <a:chOff x="0" y="0"/>
            <a:chExt cx="1247646" cy="9995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60678" y="6360889"/>
            <a:ext cx="4737156" cy="3795062"/>
            <a:chOff x="0" y="0"/>
            <a:chExt cx="1247646" cy="9995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96278" y="2068623"/>
            <a:ext cx="4737156" cy="3795062"/>
            <a:chOff x="0" y="0"/>
            <a:chExt cx="1247646" cy="9995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78072" y="2068623"/>
            <a:ext cx="4737156" cy="3795062"/>
            <a:chOff x="0" y="0"/>
            <a:chExt cx="1247646" cy="9995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7646" cy="999523"/>
            </a:xfrm>
            <a:custGeom>
              <a:avLst/>
              <a:gdLst/>
              <a:ahLst/>
              <a:cxnLst/>
              <a:rect r="r" b="b" t="t" l="l"/>
              <a:pathLst>
                <a:path h="999523" w="1247646">
                  <a:moveTo>
                    <a:pt x="83349" y="0"/>
                  </a:moveTo>
                  <a:lnTo>
                    <a:pt x="1164297" y="0"/>
                  </a:lnTo>
                  <a:cubicBezTo>
                    <a:pt x="1186402" y="0"/>
                    <a:pt x="1207603" y="8781"/>
                    <a:pt x="1223234" y="24412"/>
                  </a:cubicBezTo>
                  <a:cubicBezTo>
                    <a:pt x="1238865" y="40043"/>
                    <a:pt x="1247646" y="61244"/>
                    <a:pt x="1247646" y="83349"/>
                  </a:cubicBezTo>
                  <a:lnTo>
                    <a:pt x="1247646" y="916173"/>
                  </a:lnTo>
                  <a:cubicBezTo>
                    <a:pt x="1247646" y="962206"/>
                    <a:pt x="1210329" y="999523"/>
                    <a:pt x="1164297" y="999523"/>
                  </a:cubicBezTo>
                  <a:lnTo>
                    <a:pt x="83349" y="999523"/>
                  </a:lnTo>
                  <a:cubicBezTo>
                    <a:pt x="61244" y="999523"/>
                    <a:pt x="40043" y="990741"/>
                    <a:pt x="24412" y="975110"/>
                  </a:cubicBezTo>
                  <a:cubicBezTo>
                    <a:pt x="8781" y="959479"/>
                    <a:pt x="0" y="938279"/>
                    <a:pt x="0" y="916173"/>
                  </a:cubicBezTo>
                  <a:lnTo>
                    <a:pt x="0" y="83349"/>
                  </a:lnTo>
                  <a:cubicBezTo>
                    <a:pt x="0" y="61244"/>
                    <a:pt x="8781" y="40043"/>
                    <a:pt x="24412" y="24412"/>
                  </a:cubicBezTo>
                  <a:cubicBezTo>
                    <a:pt x="40043" y="8781"/>
                    <a:pt x="61244" y="0"/>
                    <a:pt x="83349" y="0"/>
                  </a:cubicBezTo>
                  <a:close/>
                </a:path>
              </a:pathLst>
            </a:custGeom>
            <a:solidFill>
              <a:srgbClr val="92C5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247646" cy="961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350365" y="2615344"/>
            <a:ext cx="2525782" cy="1940093"/>
          </a:xfrm>
          <a:custGeom>
            <a:avLst/>
            <a:gdLst/>
            <a:ahLst/>
            <a:cxnLst/>
            <a:rect r="r" b="b" t="t" l="l"/>
            <a:pathLst>
              <a:path h="1940093" w="2525782">
                <a:moveTo>
                  <a:pt x="0" y="0"/>
                </a:moveTo>
                <a:lnTo>
                  <a:pt x="2525781" y="0"/>
                </a:lnTo>
                <a:lnTo>
                  <a:pt x="2525781" y="1940094"/>
                </a:lnTo>
                <a:lnTo>
                  <a:pt x="0" y="19400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431" t="-39595" r="-79475" b="-4269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63521" y="2615344"/>
            <a:ext cx="1931470" cy="1940093"/>
          </a:xfrm>
          <a:custGeom>
            <a:avLst/>
            <a:gdLst/>
            <a:ahLst/>
            <a:cxnLst/>
            <a:rect r="r" b="b" t="t" l="l"/>
            <a:pathLst>
              <a:path h="1940093" w="1931470">
                <a:moveTo>
                  <a:pt x="0" y="0"/>
                </a:moveTo>
                <a:lnTo>
                  <a:pt x="1931470" y="0"/>
                </a:lnTo>
                <a:lnTo>
                  <a:pt x="1931470" y="1940094"/>
                </a:lnTo>
                <a:lnTo>
                  <a:pt x="0" y="1940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76860" y="2412793"/>
            <a:ext cx="4575992" cy="2345196"/>
          </a:xfrm>
          <a:custGeom>
            <a:avLst/>
            <a:gdLst/>
            <a:ahLst/>
            <a:cxnLst/>
            <a:rect r="r" b="b" t="t" l="l"/>
            <a:pathLst>
              <a:path h="2345196" w="4575992">
                <a:moveTo>
                  <a:pt x="0" y="0"/>
                </a:moveTo>
                <a:lnTo>
                  <a:pt x="4575991" y="0"/>
                </a:lnTo>
                <a:lnTo>
                  <a:pt x="4575991" y="2345196"/>
                </a:lnTo>
                <a:lnTo>
                  <a:pt x="0" y="2345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897040" y="6844328"/>
            <a:ext cx="2097952" cy="2097952"/>
          </a:xfrm>
          <a:custGeom>
            <a:avLst/>
            <a:gdLst/>
            <a:ahLst/>
            <a:cxnLst/>
            <a:rect r="r" b="b" t="t" l="l"/>
            <a:pathLst>
              <a:path h="2097952" w="2097952">
                <a:moveTo>
                  <a:pt x="0" y="0"/>
                </a:moveTo>
                <a:lnTo>
                  <a:pt x="2097951" y="0"/>
                </a:lnTo>
                <a:lnTo>
                  <a:pt x="2097951" y="2097951"/>
                </a:lnTo>
                <a:lnTo>
                  <a:pt x="0" y="20979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462174" y="6528307"/>
            <a:ext cx="2413972" cy="2413972"/>
          </a:xfrm>
          <a:custGeom>
            <a:avLst/>
            <a:gdLst/>
            <a:ahLst/>
            <a:cxnLst/>
            <a:rect r="r" b="b" t="t" l="l"/>
            <a:pathLst>
              <a:path h="2413972" w="2413972">
                <a:moveTo>
                  <a:pt x="0" y="0"/>
                </a:moveTo>
                <a:lnTo>
                  <a:pt x="2413972" y="0"/>
                </a:lnTo>
                <a:lnTo>
                  <a:pt x="2413972" y="2413972"/>
                </a:lnTo>
                <a:lnTo>
                  <a:pt x="0" y="2413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06290" y="6672246"/>
            <a:ext cx="2493937" cy="2493937"/>
          </a:xfrm>
          <a:custGeom>
            <a:avLst/>
            <a:gdLst/>
            <a:ahLst/>
            <a:cxnLst/>
            <a:rect r="r" b="b" t="t" l="l"/>
            <a:pathLst>
              <a:path h="2493937" w="2493937">
                <a:moveTo>
                  <a:pt x="0" y="0"/>
                </a:moveTo>
                <a:lnTo>
                  <a:pt x="2493936" y="0"/>
                </a:lnTo>
                <a:lnTo>
                  <a:pt x="2493936" y="2493937"/>
                </a:lnTo>
                <a:lnTo>
                  <a:pt x="0" y="24939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712948" y="473531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005CA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Tech Stack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40622" y="4936438"/>
            <a:ext cx="3545267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Speech Recognition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39842" y="4936438"/>
            <a:ext cx="2102293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Arduino IDE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06290" y="4936438"/>
            <a:ext cx="2861779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Google Firebase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92051" y="9305925"/>
            <a:ext cx="1397874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React.js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19692" y="9305925"/>
            <a:ext cx="698937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CSS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22332" y="9305925"/>
            <a:ext cx="1345547" cy="46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  <a:spcBef>
                <a:spcPct val="0"/>
              </a:spcBef>
            </a:pPr>
            <a:r>
              <a:rPr lang="en-US" sz="3357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Node.js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3372" y="-527382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8047" y="-2522163"/>
            <a:ext cx="7875378" cy="8104361"/>
          </a:xfrm>
          <a:custGeom>
            <a:avLst/>
            <a:gdLst/>
            <a:ahLst/>
            <a:cxnLst/>
            <a:rect r="r" b="b" t="t" l="l"/>
            <a:pathLst>
              <a:path h="8104361" w="7875378">
                <a:moveTo>
                  <a:pt x="0" y="0"/>
                </a:moveTo>
                <a:lnTo>
                  <a:pt x="7875378" y="0"/>
                </a:lnTo>
                <a:lnTo>
                  <a:pt x="7875378" y="8104361"/>
                </a:lnTo>
                <a:lnTo>
                  <a:pt x="0" y="81043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95353" y="2372228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6" y="0"/>
                </a:lnTo>
                <a:lnTo>
                  <a:pt x="1790216" y="1757666"/>
                </a:lnTo>
                <a:lnTo>
                  <a:pt x="0" y="1757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61967" y="6850331"/>
            <a:ext cx="6775868" cy="4114800"/>
          </a:xfrm>
          <a:custGeom>
            <a:avLst/>
            <a:gdLst/>
            <a:ahLst/>
            <a:cxnLst/>
            <a:rect r="r" b="b" t="t" l="l"/>
            <a:pathLst>
              <a:path h="4114800" w="6775868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61716" y="5213283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6" y="0"/>
                </a:lnTo>
                <a:lnTo>
                  <a:pt x="505146" y="505147"/>
                </a:lnTo>
                <a:lnTo>
                  <a:pt x="0" y="50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02821" y="370260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005CA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Components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05138" y="3960764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5" y="0"/>
                </a:lnTo>
                <a:lnTo>
                  <a:pt x="1790215" y="1757666"/>
                </a:lnTo>
                <a:lnTo>
                  <a:pt x="0" y="1757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05138" y="6173310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5" y="0"/>
                </a:lnTo>
                <a:lnTo>
                  <a:pt x="1790215" y="1757667"/>
                </a:lnTo>
                <a:lnTo>
                  <a:pt x="0" y="1757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95353" y="7930977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6" y="0"/>
                </a:lnTo>
                <a:lnTo>
                  <a:pt x="1790216" y="1757666"/>
                </a:lnTo>
                <a:lnTo>
                  <a:pt x="0" y="1757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85569" y="6173310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5" y="0"/>
                </a:lnTo>
                <a:lnTo>
                  <a:pt x="1790215" y="1757667"/>
                </a:lnTo>
                <a:lnTo>
                  <a:pt x="0" y="1757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85569" y="4129894"/>
            <a:ext cx="1790215" cy="1757666"/>
          </a:xfrm>
          <a:custGeom>
            <a:avLst/>
            <a:gdLst/>
            <a:ahLst/>
            <a:cxnLst/>
            <a:rect r="r" b="b" t="t" l="l"/>
            <a:pathLst>
              <a:path h="1757666" w="1790215">
                <a:moveTo>
                  <a:pt x="0" y="0"/>
                </a:moveTo>
                <a:lnTo>
                  <a:pt x="1790215" y="0"/>
                </a:lnTo>
                <a:lnTo>
                  <a:pt x="1790215" y="1757666"/>
                </a:lnTo>
                <a:lnTo>
                  <a:pt x="0" y="1757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9685569" y="3236951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8540738" y="3079286"/>
            <a:ext cx="499445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12300" y="4667821"/>
            <a:ext cx="591964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79747" y="6880368"/>
            <a:ext cx="583927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79747" y="4868172"/>
            <a:ext cx="613330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8301" y="8735956"/>
            <a:ext cx="584319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2300" y="6880368"/>
            <a:ext cx="575891" cy="37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  <a:spcBef>
                <a:spcPct val="0"/>
              </a:spcBef>
            </a:pPr>
            <a:r>
              <a:rPr lang="en-US" sz="264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05.</a:t>
            </a:r>
          </a:p>
        </p:txBody>
      </p:sp>
      <p:sp>
        <p:nvSpPr>
          <p:cNvPr name="AutoShape 20" id="20"/>
          <p:cNvSpPr/>
          <p:nvPr/>
        </p:nvSpPr>
        <p:spPr>
          <a:xfrm>
            <a:off x="3211715" y="4858647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3211715" y="7071194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001931" y="8888681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1475784" y="7033094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475784" y="5008727"/>
            <a:ext cx="2893423" cy="0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207054" y="2929169"/>
            <a:ext cx="2810303" cy="67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446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ESP32/</a:t>
            </a:r>
          </a:p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sz="2446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ESP8266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61809" y="4785154"/>
            <a:ext cx="2860167" cy="43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Sensors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01549" y="6776773"/>
            <a:ext cx="2860167" cy="43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Actuators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05351" y="8705304"/>
            <a:ext cx="3012728" cy="43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Devices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8259" y="6659216"/>
            <a:ext cx="3012728" cy="85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Mobile/</a:t>
            </a:r>
          </a:p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Laptop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6384" y="4637169"/>
            <a:ext cx="3012728" cy="43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3071">
                <a:solidFill>
                  <a:srgbClr val="005CA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2809" y="526335"/>
            <a:ext cx="11071703" cy="11071703"/>
          </a:xfrm>
          <a:custGeom>
            <a:avLst/>
            <a:gdLst/>
            <a:ahLst/>
            <a:cxnLst/>
            <a:rect r="r" b="b" t="t" l="l"/>
            <a:pathLst>
              <a:path h="11071703" w="11071703">
                <a:moveTo>
                  <a:pt x="0" y="0"/>
                </a:moveTo>
                <a:lnTo>
                  <a:pt x="11071703" y="0"/>
                </a:lnTo>
                <a:lnTo>
                  <a:pt x="11071703" y="11071703"/>
                </a:lnTo>
                <a:lnTo>
                  <a:pt x="0" y="1107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6670" y="8649884"/>
            <a:ext cx="1628186" cy="1637116"/>
          </a:xfrm>
          <a:custGeom>
            <a:avLst/>
            <a:gdLst/>
            <a:ahLst/>
            <a:cxnLst/>
            <a:rect r="r" b="b" t="t" l="l"/>
            <a:pathLst>
              <a:path h="1637116" w="1628186">
                <a:moveTo>
                  <a:pt x="0" y="0"/>
                </a:moveTo>
                <a:lnTo>
                  <a:pt x="1628186" y="0"/>
                </a:lnTo>
                <a:lnTo>
                  <a:pt x="1628186" y="1637116"/>
                </a:lnTo>
                <a:lnTo>
                  <a:pt x="0" y="163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57413" y="221234"/>
            <a:ext cx="7315200" cy="931025"/>
          </a:xfrm>
          <a:custGeom>
            <a:avLst/>
            <a:gdLst/>
            <a:ahLst/>
            <a:cxnLst/>
            <a:rect r="r" b="b" t="t" l="l"/>
            <a:pathLst>
              <a:path h="931025" w="7315200">
                <a:moveTo>
                  <a:pt x="0" y="0"/>
                </a:moveTo>
                <a:lnTo>
                  <a:pt x="7315200" y="0"/>
                </a:lnTo>
                <a:lnTo>
                  <a:pt x="7315200" y="931026"/>
                </a:lnTo>
                <a:lnTo>
                  <a:pt x="0" y="931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99824" y="5168867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7" y="0"/>
                </a:lnTo>
                <a:lnTo>
                  <a:pt x="505147" y="505146"/>
                </a:lnTo>
                <a:lnTo>
                  <a:pt x="0" y="505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64583" y="5080033"/>
            <a:ext cx="15387815" cy="888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317156" y="4938713"/>
            <a:ext cx="371475" cy="37147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CA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02893" y="1525696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005CA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788" y="6113404"/>
            <a:ext cx="3133725" cy="91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241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Voice-Controlled </a:t>
            </a:r>
          </a:p>
          <a:p>
            <a:pPr algn="l">
              <a:lnSpc>
                <a:spcPts val="3533"/>
              </a:lnSpc>
              <a:spcBef>
                <a:spcPct val="0"/>
              </a:spcBef>
            </a:pPr>
            <a:r>
              <a:rPr lang="en-US" b="true" sz="324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Automation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88421"/>
            <a:ext cx="2837302" cy="176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Easily control lighting, climate, and security through hands-free voice commands.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69267" y="4957762"/>
            <a:ext cx="371475" cy="3714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CA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17367" y="4938713"/>
            <a:ext cx="371475" cy="37147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CA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16941" y="4957762"/>
            <a:ext cx="371475" cy="37147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C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535631" y="6090762"/>
            <a:ext cx="2010221" cy="91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</a:pPr>
            <a:r>
              <a:rPr lang="en-US" sz="3241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Real-Time </a:t>
            </a:r>
          </a:p>
          <a:p>
            <a:pPr algn="ctr">
              <a:lnSpc>
                <a:spcPts val="3533"/>
              </a:lnSpc>
              <a:spcBef>
                <a:spcPct val="0"/>
              </a:spcBef>
            </a:pPr>
            <a:r>
              <a:rPr lang="en-US" b="true" sz="324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Monitoring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0552" y="7551731"/>
            <a:ext cx="2989864" cy="163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Monitor environmental conditions and device statuses in real-time via a centralized dashboard.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16582" y="6090762"/>
            <a:ext cx="3132832" cy="46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3"/>
              </a:lnSpc>
              <a:spcBef>
                <a:spcPct val="0"/>
              </a:spcBef>
            </a:pPr>
            <a:r>
              <a:rPr lang="en-US" b="true" sz="324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Motion 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30900" y="6090762"/>
            <a:ext cx="3218557" cy="91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3241" b="true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Energy Efficiency </a:t>
            </a:r>
          </a:p>
          <a:p>
            <a:pPr algn="l">
              <a:lnSpc>
                <a:spcPts val="3533"/>
              </a:lnSpc>
              <a:spcBef>
                <a:spcPct val="0"/>
              </a:spcBef>
            </a:pPr>
            <a:r>
              <a:rPr lang="en-US" b="true" sz="324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Optimization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16582" y="7421920"/>
            <a:ext cx="3687289" cy="228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Motion detection uses sensors to detect movement and trigger automated actions like turning on lights or activating security systems.</a:t>
            </a:r>
          </a:p>
          <a:p>
            <a:pPr algn="l">
              <a:lnSpc>
                <a:spcPts val="2616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2230900" y="7478896"/>
            <a:ext cx="2989864" cy="163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Automate and adjust energy usage based on occupancy and environmental data to reduce costs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28870" y="9632500"/>
            <a:ext cx="7315200" cy="931025"/>
          </a:xfrm>
          <a:custGeom>
            <a:avLst/>
            <a:gdLst/>
            <a:ahLst/>
            <a:cxnLst/>
            <a:rect r="r" b="b" t="t" l="l"/>
            <a:pathLst>
              <a:path h="931025" w="7315200">
                <a:moveTo>
                  <a:pt x="0" y="0"/>
                </a:moveTo>
                <a:lnTo>
                  <a:pt x="7315200" y="0"/>
                </a:lnTo>
                <a:lnTo>
                  <a:pt x="7315200" y="931026"/>
                </a:lnTo>
                <a:lnTo>
                  <a:pt x="0" y="93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82007" y="-465513"/>
            <a:ext cx="7315200" cy="931025"/>
          </a:xfrm>
          <a:custGeom>
            <a:avLst/>
            <a:gdLst/>
            <a:ahLst/>
            <a:cxnLst/>
            <a:rect r="r" b="b" t="t" l="l"/>
            <a:pathLst>
              <a:path h="931025" w="7315200">
                <a:moveTo>
                  <a:pt x="0" y="0"/>
                </a:moveTo>
                <a:lnTo>
                  <a:pt x="7315200" y="0"/>
                </a:lnTo>
                <a:lnTo>
                  <a:pt x="7315200" y="931026"/>
                </a:lnTo>
                <a:lnTo>
                  <a:pt x="0" y="93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3280" y="4456680"/>
            <a:ext cx="3086100" cy="2183732"/>
            <a:chOff x="0" y="0"/>
            <a:chExt cx="812800" cy="5751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5139"/>
            </a:xfrm>
            <a:custGeom>
              <a:avLst/>
              <a:gdLst/>
              <a:ahLst/>
              <a:cxnLst/>
              <a:rect r="r" b="b" t="t" l="l"/>
              <a:pathLst>
                <a:path h="575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47198"/>
                  </a:lnTo>
                  <a:cubicBezTo>
                    <a:pt x="812800" y="517858"/>
                    <a:pt x="755519" y="575139"/>
                    <a:pt x="684859" y="575139"/>
                  </a:cubicBezTo>
                  <a:lnTo>
                    <a:pt x="127941" y="575139"/>
                  </a:lnTo>
                  <a:cubicBezTo>
                    <a:pt x="94009" y="575139"/>
                    <a:pt x="61467" y="561660"/>
                    <a:pt x="37473" y="537666"/>
                  </a:cubicBezTo>
                  <a:cubicBezTo>
                    <a:pt x="13479" y="513673"/>
                    <a:pt x="0" y="481130"/>
                    <a:pt x="0" y="44719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9FF"/>
            </a:solidFill>
            <a:ln w="19050" cap="rnd">
              <a:gradFill>
                <a:gsLst>
                  <a:gs pos="0">
                    <a:srgbClr val="2777B6">
                      <a:alpha val="100000"/>
                    </a:srgbClr>
                  </a:gs>
                  <a:gs pos="100000">
                    <a:srgbClr val="050B39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812800" cy="53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138250" y="427815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005CA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Implementation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56560" y="3286609"/>
            <a:ext cx="918428" cy="918428"/>
            <a:chOff x="0" y="0"/>
            <a:chExt cx="1224571" cy="12245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24571" cy="12245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5CA2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85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82449" y="376235"/>
              <a:ext cx="659673" cy="500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1"/>
                </a:lnSpc>
                <a:spcBef>
                  <a:spcPct val="0"/>
                </a:spcBef>
              </a:pPr>
              <a:r>
                <a:rPr lang="en-US" sz="2616">
                  <a:solidFill>
                    <a:srgbClr val="FBFB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03609" y="4456680"/>
            <a:ext cx="3086100" cy="2183732"/>
            <a:chOff x="0" y="0"/>
            <a:chExt cx="812800" cy="5751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75139"/>
            </a:xfrm>
            <a:custGeom>
              <a:avLst/>
              <a:gdLst/>
              <a:ahLst/>
              <a:cxnLst/>
              <a:rect r="r" b="b" t="t" l="l"/>
              <a:pathLst>
                <a:path h="575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47198"/>
                  </a:lnTo>
                  <a:cubicBezTo>
                    <a:pt x="812800" y="517858"/>
                    <a:pt x="755519" y="575139"/>
                    <a:pt x="684859" y="575139"/>
                  </a:cubicBezTo>
                  <a:lnTo>
                    <a:pt x="127941" y="575139"/>
                  </a:lnTo>
                  <a:cubicBezTo>
                    <a:pt x="94009" y="575139"/>
                    <a:pt x="61467" y="561660"/>
                    <a:pt x="37473" y="537666"/>
                  </a:cubicBezTo>
                  <a:cubicBezTo>
                    <a:pt x="13479" y="513673"/>
                    <a:pt x="0" y="481130"/>
                    <a:pt x="0" y="44719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9FF"/>
            </a:solidFill>
            <a:ln w="19050" cap="rnd">
              <a:gradFill>
                <a:gsLst>
                  <a:gs pos="0">
                    <a:srgbClr val="2777B6">
                      <a:alpha val="100000"/>
                    </a:srgbClr>
                  </a:gs>
                  <a:gs pos="100000">
                    <a:srgbClr val="050B39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812800" cy="53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17334" y="4456680"/>
            <a:ext cx="3086100" cy="2183732"/>
            <a:chOff x="0" y="0"/>
            <a:chExt cx="812800" cy="5751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575139"/>
            </a:xfrm>
            <a:custGeom>
              <a:avLst/>
              <a:gdLst/>
              <a:ahLst/>
              <a:cxnLst/>
              <a:rect r="r" b="b" t="t" l="l"/>
              <a:pathLst>
                <a:path h="575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47198"/>
                  </a:lnTo>
                  <a:cubicBezTo>
                    <a:pt x="812800" y="517858"/>
                    <a:pt x="755519" y="575139"/>
                    <a:pt x="684859" y="575139"/>
                  </a:cubicBezTo>
                  <a:lnTo>
                    <a:pt x="127941" y="575139"/>
                  </a:lnTo>
                  <a:cubicBezTo>
                    <a:pt x="94009" y="575139"/>
                    <a:pt x="61467" y="561660"/>
                    <a:pt x="37473" y="537666"/>
                  </a:cubicBezTo>
                  <a:cubicBezTo>
                    <a:pt x="13479" y="513673"/>
                    <a:pt x="0" y="481130"/>
                    <a:pt x="0" y="44719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9FF"/>
            </a:solidFill>
            <a:ln w="19050" cap="rnd">
              <a:gradFill>
                <a:gsLst>
                  <a:gs pos="0">
                    <a:srgbClr val="2777B6">
                      <a:alpha val="100000"/>
                    </a:srgbClr>
                  </a:gs>
                  <a:gs pos="100000">
                    <a:srgbClr val="050B39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38100"/>
              <a:ext cx="812800" cy="53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31059" y="4456680"/>
            <a:ext cx="3086100" cy="2183732"/>
            <a:chOff x="0" y="0"/>
            <a:chExt cx="812800" cy="5751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575139"/>
            </a:xfrm>
            <a:custGeom>
              <a:avLst/>
              <a:gdLst/>
              <a:ahLst/>
              <a:cxnLst/>
              <a:rect r="r" b="b" t="t" l="l"/>
              <a:pathLst>
                <a:path h="575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47198"/>
                  </a:lnTo>
                  <a:cubicBezTo>
                    <a:pt x="812800" y="517858"/>
                    <a:pt x="755519" y="575139"/>
                    <a:pt x="684859" y="575139"/>
                  </a:cubicBezTo>
                  <a:lnTo>
                    <a:pt x="127941" y="575139"/>
                  </a:lnTo>
                  <a:cubicBezTo>
                    <a:pt x="94009" y="575139"/>
                    <a:pt x="61467" y="561660"/>
                    <a:pt x="37473" y="537666"/>
                  </a:cubicBezTo>
                  <a:cubicBezTo>
                    <a:pt x="13479" y="513673"/>
                    <a:pt x="0" y="481130"/>
                    <a:pt x="0" y="447198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D3E9FF"/>
            </a:solidFill>
            <a:ln w="19050" cap="rnd">
              <a:gradFill>
                <a:gsLst>
                  <a:gs pos="0">
                    <a:srgbClr val="2777B6">
                      <a:alpha val="100000"/>
                    </a:srgbClr>
                  </a:gs>
                  <a:gs pos="100000">
                    <a:srgbClr val="050B39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812800" cy="53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8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11911" y="3286609"/>
            <a:ext cx="918428" cy="918428"/>
            <a:chOff x="0" y="0"/>
            <a:chExt cx="1224571" cy="122457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24571" cy="122457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5CA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85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82449" y="376235"/>
              <a:ext cx="659673" cy="500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1"/>
                </a:lnSpc>
                <a:spcBef>
                  <a:spcPct val="0"/>
                </a:spcBef>
              </a:pPr>
              <a:r>
                <a:rPr lang="en-US" sz="2616">
                  <a:solidFill>
                    <a:srgbClr val="FBFB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78758" y="3286609"/>
            <a:ext cx="918428" cy="918428"/>
            <a:chOff x="0" y="0"/>
            <a:chExt cx="1224571" cy="122457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24571" cy="122457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5CA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85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82449" y="376235"/>
              <a:ext cx="659673" cy="500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1"/>
                </a:lnSpc>
                <a:spcBef>
                  <a:spcPct val="0"/>
                </a:spcBef>
              </a:pPr>
              <a:r>
                <a:rPr lang="en-US" sz="2616">
                  <a:solidFill>
                    <a:srgbClr val="FBFB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67659" y="3286609"/>
            <a:ext cx="939725" cy="918428"/>
            <a:chOff x="0" y="0"/>
            <a:chExt cx="1252967" cy="122457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252967" cy="1224571"/>
              <a:chOff x="0" y="0"/>
              <a:chExt cx="831648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3164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31648">
                    <a:moveTo>
                      <a:pt x="415824" y="0"/>
                    </a:moveTo>
                    <a:cubicBezTo>
                      <a:pt x="186171" y="0"/>
                      <a:pt x="0" y="181951"/>
                      <a:pt x="0" y="406400"/>
                    </a:cubicBezTo>
                    <a:cubicBezTo>
                      <a:pt x="0" y="630849"/>
                      <a:pt x="186171" y="812800"/>
                      <a:pt x="415824" y="812800"/>
                    </a:cubicBezTo>
                    <a:cubicBezTo>
                      <a:pt x="645477" y="812800"/>
                      <a:pt x="831648" y="630849"/>
                      <a:pt x="831648" y="406400"/>
                    </a:cubicBezTo>
                    <a:cubicBezTo>
                      <a:pt x="831648" y="181951"/>
                      <a:pt x="645477" y="0"/>
                      <a:pt x="415824" y="0"/>
                    </a:cubicBezTo>
                    <a:close/>
                  </a:path>
                </a:pathLst>
              </a:custGeom>
              <a:solidFill>
                <a:srgbClr val="005CA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7967" y="114300"/>
                <a:ext cx="675714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85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88999" y="376235"/>
              <a:ext cx="674970" cy="500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51"/>
                </a:lnSpc>
                <a:spcBef>
                  <a:spcPct val="0"/>
                </a:spcBef>
              </a:pPr>
              <a:r>
                <a:rPr lang="en-US" sz="2616">
                  <a:solidFill>
                    <a:srgbClr val="FBFB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4428746" y="5567595"/>
            <a:ext cx="7095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13427255" y="5567595"/>
            <a:ext cx="7095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>
            <a:off x="9144000" y="5567595"/>
            <a:ext cx="70950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0" id="40"/>
          <p:cNvSpPr txBox="true"/>
          <p:nvPr/>
        </p:nvSpPr>
        <p:spPr>
          <a:xfrm rot="0">
            <a:off x="1290484" y="5360865"/>
            <a:ext cx="2591693" cy="4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Hardware Setup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998454" y="5181600"/>
            <a:ext cx="2151311" cy="8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Software </a:t>
            </a:r>
          </a:p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Development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68755" y="5181600"/>
            <a:ext cx="1783259" cy="8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Platform</a:t>
            </a:r>
          </a:p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Integration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001960" y="5181600"/>
            <a:ext cx="2089398" cy="8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Testing &amp; </a:t>
            </a:r>
          </a:p>
          <a:p>
            <a:pPr algn="ctr">
              <a:lnSpc>
                <a:spcPts val="3275"/>
              </a:lnSpc>
              <a:spcBef>
                <a:spcPct val="0"/>
              </a:spcBef>
            </a:pPr>
            <a:r>
              <a:rPr lang="en-US" sz="3005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Optimisation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7B6">
                <a:alpha val="100000"/>
              </a:srgbClr>
            </a:gs>
            <a:gs pos="100000">
              <a:srgbClr val="050B3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739132">
            <a:off x="-1624707" y="-639849"/>
            <a:ext cx="7801629" cy="7801629"/>
          </a:xfrm>
          <a:custGeom>
            <a:avLst/>
            <a:gdLst/>
            <a:ahLst/>
            <a:cxnLst/>
            <a:rect r="r" b="b" t="t" l="l"/>
            <a:pathLst>
              <a:path h="7801629" w="7801629">
                <a:moveTo>
                  <a:pt x="7801630" y="0"/>
                </a:moveTo>
                <a:lnTo>
                  <a:pt x="0" y="0"/>
                </a:lnTo>
                <a:lnTo>
                  <a:pt x="0" y="7801630"/>
                </a:lnTo>
                <a:lnTo>
                  <a:pt x="7801630" y="7801630"/>
                </a:lnTo>
                <a:lnTo>
                  <a:pt x="7801630" y="0"/>
                </a:lnTo>
                <a:close/>
              </a:path>
            </a:pathLst>
          </a:custGeom>
          <a:blipFill>
            <a:blip r:embed="rId2"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16515" y="8832335"/>
            <a:ext cx="505147" cy="505147"/>
          </a:xfrm>
          <a:custGeom>
            <a:avLst/>
            <a:gdLst/>
            <a:ahLst/>
            <a:cxnLst/>
            <a:rect r="r" b="b" t="t" l="l"/>
            <a:pathLst>
              <a:path h="505147" w="505147">
                <a:moveTo>
                  <a:pt x="0" y="0"/>
                </a:moveTo>
                <a:lnTo>
                  <a:pt x="505147" y="0"/>
                </a:lnTo>
                <a:lnTo>
                  <a:pt x="505147" y="505147"/>
                </a:lnTo>
                <a:lnTo>
                  <a:pt x="0" y="505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27069" y="3260966"/>
            <a:ext cx="4811854" cy="6347907"/>
          </a:xfrm>
          <a:custGeom>
            <a:avLst/>
            <a:gdLst/>
            <a:ahLst/>
            <a:cxnLst/>
            <a:rect r="r" b="b" t="t" l="l"/>
            <a:pathLst>
              <a:path h="6347907" w="4811854">
                <a:moveTo>
                  <a:pt x="0" y="0"/>
                </a:moveTo>
                <a:lnTo>
                  <a:pt x="4811853" y="0"/>
                </a:lnTo>
                <a:lnTo>
                  <a:pt x="4811853" y="6347907"/>
                </a:lnTo>
                <a:lnTo>
                  <a:pt x="0" y="6347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512" t="0" r="-11101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435023"/>
            <a:ext cx="537764" cy="537764"/>
          </a:xfrm>
          <a:custGeom>
            <a:avLst/>
            <a:gdLst/>
            <a:ahLst/>
            <a:cxnLst/>
            <a:rect r="r" b="b" t="t" l="l"/>
            <a:pathLst>
              <a:path h="537764" w="537764">
                <a:moveTo>
                  <a:pt x="0" y="0"/>
                </a:moveTo>
                <a:lnTo>
                  <a:pt x="537764" y="0"/>
                </a:lnTo>
                <a:lnTo>
                  <a:pt x="537764" y="537764"/>
                </a:lnTo>
                <a:lnTo>
                  <a:pt x="0" y="5377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21382" y="773722"/>
            <a:ext cx="15418768" cy="98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7"/>
              </a:lnSpc>
            </a:pPr>
            <a:r>
              <a:rPr lang="en-US" sz="7538" b="true">
                <a:solidFill>
                  <a:srgbClr val="FBFBF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Real Life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4583" y="3377873"/>
            <a:ext cx="8817891" cy="208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b="true" sz="303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Home Automation:</a:t>
            </a: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Use IoT to automate lighting, climate control, and security, creating a more comfortable and energy-efficient living environment.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94583" y="6377769"/>
            <a:ext cx="8229438" cy="26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03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Elderly Care Monitoring: </a:t>
            </a:r>
            <a:r>
              <a:rPr lang="en-US" sz="30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 IoT sensors and voice assistants to monitor health and safety, providing real-time alerts and assistance for elderly individuals living independently.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6434919"/>
            <a:ext cx="537764" cy="537764"/>
          </a:xfrm>
          <a:custGeom>
            <a:avLst/>
            <a:gdLst/>
            <a:ahLst/>
            <a:cxnLst/>
            <a:rect r="r" b="b" t="t" l="l"/>
            <a:pathLst>
              <a:path h="537764" w="537764">
                <a:moveTo>
                  <a:pt x="0" y="0"/>
                </a:moveTo>
                <a:lnTo>
                  <a:pt x="537764" y="0"/>
                </a:lnTo>
                <a:lnTo>
                  <a:pt x="537764" y="537764"/>
                </a:lnTo>
                <a:lnTo>
                  <a:pt x="0" y="5377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777B6">
                <a:alpha val="100000"/>
              </a:srgbClr>
            </a:gs>
            <a:gs pos="100000">
              <a:srgbClr val="050B3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59367" y="4667038"/>
            <a:ext cx="8969266" cy="112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7"/>
              </a:lnSpc>
            </a:pPr>
            <a:r>
              <a:rPr lang="en-US" sz="8537">
                <a:solidFill>
                  <a:srgbClr val="FBFBF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566591">
            <a:off x="-4514499" y="-4209292"/>
            <a:ext cx="11421234" cy="8780073"/>
          </a:xfrm>
          <a:custGeom>
            <a:avLst/>
            <a:gdLst/>
            <a:ahLst/>
            <a:cxnLst/>
            <a:rect r="r" b="b" t="t" l="l"/>
            <a:pathLst>
              <a:path h="8780073" w="11421234">
                <a:moveTo>
                  <a:pt x="0" y="0"/>
                </a:moveTo>
                <a:lnTo>
                  <a:pt x="11421234" y="0"/>
                </a:lnTo>
                <a:lnTo>
                  <a:pt x="11421234" y="8780073"/>
                </a:lnTo>
                <a:lnTo>
                  <a:pt x="0" y="878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66591">
            <a:off x="13940682" y="1032386"/>
            <a:ext cx="11421234" cy="8780073"/>
          </a:xfrm>
          <a:custGeom>
            <a:avLst/>
            <a:gdLst/>
            <a:ahLst/>
            <a:cxnLst/>
            <a:rect r="r" b="b" t="t" l="l"/>
            <a:pathLst>
              <a:path h="8780073" w="11421234">
                <a:moveTo>
                  <a:pt x="0" y="0"/>
                </a:moveTo>
                <a:lnTo>
                  <a:pt x="11421233" y="0"/>
                </a:lnTo>
                <a:lnTo>
                  <a:pt x="11421233" y="8780073"/>
                </a:lnTo>
                <a:lnTo>
                  <a:pt x="0" y="878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42641" y="7932474"/>
            <a:ext cx="485736" cy="485736"/>
          </a:xfrm>
          <a:custGeom>
            <a:avLst/>
            <a:gdLst/>
            <a:ahLst/>
            <a:cxnLst/>
            <a:rect r="r" b="b" t="t" l="l"/>
            <a:pathLst>
              <a:path h="485736" w="485736">
                <a:moveTo>
                  <a:pt x="0" y="0"/>
                </a:moveTo>
                <a:lnTo>
                  <a:pt x="485736" y="0"/>
                </a:lnTo>
                <a:lnTo>
                  <a:pt x="485736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22550" y="7919387"/>
            <a:ext cx="498822" cy="498822"/>
          </a:xfrm>
          <a:custGeom>
            <a:avLst/>
            <a:gdLst/>
            <a:ahLst/>
            <a:cxnLst/>
            <a:rect r="r" b="b" t="t" l="l"/>
            <a:pathLst>
              <a:path h="498822" w="498822">
                <a:moveTo>
                  <a:pt x="0" y="0"/>
                </a:moveTo>
                <a:lnTo>
                  <a:pt x="498822" y="0"/>
                </a:lnTo>
                <a:lnTo>
                  <a:pt x="498822" y="498822"/>
                </a:lnTo>
                <a:lnTo>
                  <a:pt x="0" y="4988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2228" y="7927855"/>
            <a:ext cx="494972" cy="494972"/>
          </a:xfrm>
          <a:custGeom>
            <a:avLst/>
            <a:gdLst/>
            <a:ahLst/>
            <a:cxnLst/>
            <a:rect r="r" b="b" t="t" l="l"/>
            <a:pathLst>
              <a:path h="494972" w="494972">
                <a:moveTo>
                  <a:pt x="0" y="0"/>
                </a:moveTo>
                <a:lnTo>
                  <a:pt x="494972" y="0"/>
                </a:lnTo>
                <a:lnTo>
                  <a:pt x="494972" y="494973"/>
                </a:lnTo>
                <a:lnTo>
                  <a:pt x="0" y="4949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288072" y="8078650"/>
            <a:ext cx="5237928" cy="241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5"/>
              </a:lnSpc>
            </a:pPr>
            <a:r>
              <a:rPr lang="en-US" sz="182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https://github.com/CodeBeginner000001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5927" y="8061321"/>
            <a:ext cx="4606034" cy="26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00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Ashu2100ag@gmail.com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91050" y="8061321"/>
            <a:ext cx="4355456" cy="26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</a:pPr>
            <a:r>
              <a:rPr lang="en-US" sz="200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9958728538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798910" y="5521544"/>
            <a:ext cx="539736" cy="539736"/>
          </a:xfrm>
          <a:custGeom>
            <a:avLst/>
            <a:gdLst/>
            <a:ahLst/>
            <a:cxnLst/>
            <a:rect r="r" b="b" t="t" l="l"/>
            <a:pathLst>
              <a:path h="539736" w="539736">
                <a:moveTo>
                  <a:pt x="0" y="0"/>
                </a:moveTo>
                <a:lnTo>
                  <a:pt x="539736" y="0"/>
                </a:lnTo>
                <a:lnTo>
                  <a:pt x="539736" y="539736"/>
                </a:lnTo>
                <a:lnTo>
                  <a:pt x="0" y="5397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DAGNqPNlbOM</dc:identifier>
  <dcterms:modified xsi:type="dcterms:W3CDTF">2011-08-01T06:04:30Z</dcterms:modified>
  <cp:revision>1</cp:revision>
  <dc:title>IOT Based</dc:title>
</cp:coreProperties>
</file>